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notesMaster" Target="notesMasters/notesMaster1.xml" /><Relationship Id="rId44" Type="http://schemas.openxmlformats.org/officeDocument/2006/relationships/viewProps" Target="viewProps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2025년 크리스마스는 날짜와 시간의 숫자가 일치하는 매우 특별한 해입니다. 이번 교육 자료를 통해 전국 각지의 마켓과 명소를 구조적으로 살펴보고 성공적인 방문 전략을 학습하시기 바랍니다.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서울의 크리스마스 분위기를 주도하는 백화점 3사의 특징을 정리했습니다. 더현대는 ‘스토리텔링’, 롯데는 ‘체험형 놀이기구’, 신세계는 ’시각적 공연’에 집중하고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더현대 서울은 매년 가장 뜨거운 관심을 받는 곳입니다. 곰돌이 ’해리’라는 캐릭터를 활용한 강력한 스토리텔링이 성공의 핵심이며, 철저한 예약제로 쾌적한 관람 환경을 유지합니다.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잠실 롯데타운은 야외 공간을 활용한 스케일이 강점입니다. 특히 올해는 유료화 정책과 패스트패스를 도입하여 인파 관리에 적극적으로 대응하고 있는 모습입니다.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광화문 마켓은 공공 주도의 대표적 성공 사례입니다. 소상공인과의 상생을 도모하면서도 대중적인 볼거리를 제공하여 작년에만 164만 명이 방문하는 기록을 세웠습니다.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예약에 실패했더라도 서울 도심에는 훌륭한 대안이 많습니다. 특히 명동 지역은 신세계와 롯데의 외벽 장식을 동시에 즐길 수 있어 가성비 높은 투어가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주요 거점 외에도 서울 곳곳에서 개성 있는 마켓이 열립니다. 성수는 ‘상생’, 뚝섬은 ‘낭만’, DDP는 ’기술’이라는 키워드로 각자의 매력을 발산하고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부산 기장의 아난티는 인공 눈 이벤트로 큰 화제를 모으고 있습니다. 호텔의 고급스러운 분위기와 크리스마스 테마가 결합되어 이국적인 느낌을 자아내는 곳입니다.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부산은 해안선을 따라 펼쳐지는 빛의 향연이 일품입니다. 드론 쇼와 같은 현대 기술과 전통적인 트리 축제가 공존하는 역동적인 연말을 즐길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경기도의 테마파크들은 넓은 부지를 활용한 ’풀데이 코스’를 지향합니다. 낮에는 액티비티를 즐기고 밤에는 화려한 쇼를 감상하는 정석적인 크리스마스 나들이가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민속촌의 ‘조선 산타왕’ 컨셉은 매우 영리한 차별화 전략입니다. 전통적인 공간에 현대적인 유머를 섞어 젊은 층의 자발적인 공유를 이끌어내고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빛 축제는 겨울의 어둠을 관광 자원화한 대표적 사례입니다. 특히 창원의 산업단지 미디어 아트는 삭막할 수 있는 공간을 예술로 승화시킨 신선한 시도로 평가받습니다.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지방의 빛 축제들은 지역의 거점 공원을 활용하여 주민들에게는 휴식을, 관광객에게는 볼거리를 제공합니다. 청도나 함평처럼 넓은 공간을 활용한 테마파크형 축제가 인기입니다.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단순한 마켓을 넘어 ‘마을’ 단위로 조성된 명소들은 몰입감이 높습니다. 특히 봉화 분천역은 기차 여행이라는 낭만적인 요소가 더해져 특별한 추억을 선사합니다.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제주의 크리스마스는 육지와는 또 다른 매력이 있습니다. 특히 바이나흐튼 박물관은 유럽 현지의 마켓 분위기를 가장 잘 재현했다는 평가를 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크리스마스는 꼭 누군가와 함께해야 한다는 편견에서 벗어나야 합니다. 영화관의 특별 좌석은 혼자서도 완벽하게 콘텐츠에 몰입할 수 있는 환경을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인파가 두렵다면 집이 최고의 명소가 됩니다. 다양한 디지털 서비스와 밀키트를 활용하면 외부 마켓 못지않은 풍성한 크리스마스를 보낼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크리스마스 명소 방문의 성패는 ’타이밍’에 달려 있습니다. 남들보다 조금 서두르거나, 아예 늦게 방문하는 역발상 전략이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아무리 예쁜 풍경도 추위 앞에서는 무색해집니다. 완벽한 방한 대책이야말로 크리스마스 축제를 온전히 즐기기 위한 가장 중요한 기본 소양입니다.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2025년 크리스마스 가이드를 마칩니다. 이번 교육에서 배운 명소 정보와 방문 팁을 활용하여 소중한 사람들과 함께 반짝이는 연말의 주인공이 되시길 바랍니다.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7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7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2025 크리스마스 축제 개요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100년 만의 특별한 쿼드러플 시즌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2025년 12월 25일 12시 25분 25초에 숫자 25가 네 번 반복되는 역사적 상징성 보유</a:t>
            </a:r>
          </a:p>
          <a:p>
            <a:pPr lvl="0"/>
            <a:r>
              <a:rPr/>
              <a:t>단순한 공휴일을 넘어 모든 세대가 함께 공유하고 기록할 만한 가치를 지닌 연말 분위기 조성</a:t>
            </a:r>
          </a:p>
          <a:p>
            <a:pPr lvl="0"/>
            <a:r>
              <a:rPr/>
              <a:t>전국 주요 테마파크와 백화점을 중심으로 역대 최대 규모의 화려한 빛 축제와 마켓 운영 계획 수립</a:t>
            </a:r>
          </a:p>
          <a:p>
            <a:pPr lvl="0"/>
            <a:r>
              <a:rPr/>
              <a:t>가족 및 연인 등 동행 유형에 따른 맞춤형 체험 프로그램과 이색 포토존 경쟁의 본격화 양상</a:t>
            </a:r>
          </a:p>
          <a:p>
            <a:pPr lvl="0"/>
            <a:r>
              <a:rPr/>
              <a:t>해외여행 대신 국내 명소를 찾는 도심 밀집형 관광 수요를 충족하기 위한 다채로운 공간 기획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서울 주요 백화점 마켓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예약 전쟁의 중심지 3대장 비교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더현대 서울의 ’해리 상점’은 곰돌이 테마의 공방과 서커스 텐트 조형물로 압도적 인기 구가</a:t>
            </a:r>
          </a:p>
          <a:p>
            <a:pPr lvl="0"/>
            <a:r>
              <a:rPr/>
              <a:t>잠실 롯데타운 마켓은 2층 규모 회전목마와 대형 트리를 중심으로 한 유럽 감성 마을 구축</a:t>
            </a:r>
          </a:p>
          <a:p>
            <a:pPr lvl="0"/>
            <a:r>
              <a:rPr/>
              <a:t>신세계백화점 본점은 별도 예약 없이 외벽 전체를 활용한 압도적 미디어 파사드 쇼 상영</a:t>
            </a:r>
          </a:p>
          <a:p>
            <a:pPr lvl="0"/>
            <a:r>
              <a:rPr/>
              <a:t>백화점별로 사전 예약제와 현장 웨이팅 시스템을 병행하여 방문객 인원수를 철저히 관리함</a:t>
            </a:r>
          </a:p>
          <a:p>
            <a:pPr lvl="0"/>
            <a:r>
              <a:rPr/>
              <a:t>지점별 한정판 굿즈와 브랜드 협업 상품을 통해 방문객에게 차별화된 소장 가치와 경험 제공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백화점 명소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테마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예약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입장료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더현대 서울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해리의 크리스마스 공방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네이버 사전예약/QR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무료(굿즈 유료)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롯데월드몰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유럽풍 마켓 &amp; 회전목마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일부 예약/유료전환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시간대별 상이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신세계 본점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초대형 미디어 파사드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예약 불요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무료 관람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더현대 서울 해리상점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사운즈 포레스트의 동화적 변신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산타를 대신해 선물을 준비한 곰돌이 해리의 크리스마스 공방을 테마로 한 공간 구현</a:t>
            </a:r>
          </a:p>
          <a:p>
            <a:pPr lvl="0"/>
            <a:r>
              <a:rPr/>
              <a:t>5층 사운즈 포레스트 내부에 거대 트리와 움직이는 서커스 조형물을 설치하여 시각적 즐거움 극대화</a:t>
            </a:r>
          </a:p>
          <a:p>
            <a:pPr lvl="0"/>
            <a:r>
              <a:rPr/>
              <a:t>네이버 예약을 통한 사전 예약 시스템 운영으로 1차 오픈 시 수분 만에 마감되는 높은 인기 증명</a:t>
            </a:r>
          </a:p>
          <a:p>
            <a:pPr lvl="0"/>
            <a:r>
              <a:rPr/>
              <a:t>해리 곰인형과 오너먼트 등 상점 전용 시그니처 상품을 판매하여 방문객의 소장 가치 자극</a:t>
            </a:r>
          </a:p>
          <a:p>
            <a:pPr lvl="0"/>
            <a:r>
              <a:rPr/>
              <a:t>실내 공간의 이점을 활용하여 날씨에 관계없이 쇼핑과 미식을 동시에 즐길 수 있는 편의성 제공</a:t>
            </a:r>
          </a:p>
          <a:p>
            <a:pPr lvl="0" indent="0" marL="0">
              <a:buNone/>
            </a:pPr>
            <a:r>
              <a:rPr/>
              <a:t>[실무 사례: 더현대 서울 예약 전략] - 1차 예약 오픈일 오후 6시 정각에 네이버 계정 로그인을 완료하고 대기하는 것이 필수임 - 예약 실패 시 현장 QR 웨이팅을 활용하되 100팀당 약 1시간의 대기 시간이 소요됨을 인지함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잠실 롯데타운 마켓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유럽 감성의 대규모 윈터 빌리지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잠실 롯데월드타워 월드파크 잔디광장에 조성된 이국적인 분위기의 대규모 크리스마스 마을</a:t>
            </a:r>
          </a:p>
          <a:p>
            <a:pPr lvl="0"/>
            <a:r>
              <a:rPr/>
              <a:t>매일 정해진 시간에 내리는 인공 눈 이벤트와 3회의 대형 트리 점등 쇼로 로맨틱한 분위기 연출</a:t>
            </a:r>
          </a:p>
          <a:p>
            <a:pPr lvl="0"/>
            <a:r>
              <a:rPr/>
              <a:t>2층 규모의 회전목마인 ‘메리 고 라운드’ 운영을 통해 남녀노소 모두가 즐기는 놀이 요소 결합</a:t>
            </a:r>
          </a:p>
          <a:p>
            <a:pPr lvl="0"/>
            <a:r>
              <a:rPr/>
              <a:t>오후 4시 이후 유료 전환 및 패스트패스 도입을 통해 대기 시간을 단축하고 운영 효율성 확보</a:t>
            </a:r>
          </a:p>
          <a:p>
            <a:pPr lvl="0"/>
            <a:r>
              <a:rPr/>
              <a:t>롯데월드 어드벤처의 ‘미라클 윈터’ 축제와 연계하여 하루 종일 즐길 수 있는 풀데이 코스 형성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운영 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눈 내리는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13:00 / 15:00 / 17:30 / 19:00 / 20:30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매일 5회 진행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트리 점등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17:30 / 19:00 / 20:30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매일 3회 진행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입장료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16시 이전 무료 / 이후 5,000원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패스트패스 10,000원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광화문 크리스마스 마켓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서울 한복판의 산타마을 축제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서울관광재단 주관으로 광화문광장 일대를 겨울 동화 속 유럽풍 마을로 변모시킨 도심형 축제</a:t>
            </a:r>
          </a:p>
          <a:p>
            <a:pPr lvl="0"/>
            <a:r>
              <a:rPr/>
              <a:t>중심부에 설치된 14m 규모의 대형 크리스마스트리와 루돌프 회전목마가 선사하는 화려한 야경</a:t>
            </a:r>
          </a:p>
          <a:p>
            <a:pPr lvl="0"/>
            <a:r>
              <a:rPr/>
              <a:t>총 108개 팀의 소상공인이 참여하여 수공예품과 시즌 소품 및 지역 특화 먹거리를 다양하게 판매</a:t>
            </a:r>
          </a:p>
          <a:p>
            <a:pPr lvl="0"/>
            <a:r>
              <a:rPr/>
              <a:t>별도의 입장료나 사전 예약 없이 누구나 자유롭게 무료로 즐길 수 있는 높은 접근성과 개방성</a:t>
            </a:r>
          </a:p>
          <a:p>
            <a:pPr lvl="0"/>
            <a:r>
              <a:rPr/>
              <a:t>12월 31일 자정까지 연장 운영하며 시민들과 함께하는 새해 카운트다운 행사를 축제의 대미로 장식</a:t>
            </a:r>
          </a:p>
          <a:p>
            <a:pPr lvl="0" indent="0" marL="0">
              <a:buNone/>
            </a:pPr>
            <a:r>
              <a:rPr/>
              <a:t>[실무 사례: 광화문 마켓 시즌제 운영] - 1차(12/12~18), 2차(12/19~24), 3차(12/25~31)로 나누어 참여 팀과 테마에 변화를 줌 - 주말에는 재즈 밴드 및 캐럴 공연, LED 라이트 쇼를 배치하여 체류 시간과 만족도를 높임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서울 도심 무료 명소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예약 없이 즐기는 환상적 야경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명동 신세계백화점 본점 미디어 파사드는 거대한 건물 외벽을 활용한 압도적인 영상 쇼를 상영</a:t>
            </a:r>
          </a:p>
          <a:p>
            <a:pPr lvl="0"/>
            <a:r>
              <a:rPr/>
              <a:t>롯데백화점 본점의 외벽 장식과 대형 포토존은 명동 거리를 방문하는 관광객들에게 필수 코스로 인식</a:t>
            </a:r>
          </a:p>
          <a:p>
            <a:pPr lvl="0"/>
            <a:r>
              <a:rPr/>
              <a:t>코엑스 별마당 도서관의 초대형 트리는 실내 공간의 이점을 살려 날씨에 구애받지 않는 관람 제공</a:t>
            </a:r>
          </a:p>
          <a:p>
            <a:pPr lvl="0"/>
            <a:r>
              <a:rPr/>
              <a:t>서울 빛초롱 축제는 청계천과 우이천 일대에 다양한 빛 조형물을 설치하여 야간 산책의 즐거움 선사</a:t>
            </a:r>
          </a:p>
          <a:p>
            <a:pPr lvl="0"/>
            <a:r>
              <a:rPr/>
              <a:t>명동과 청계천을 잇는 구간은 도보 이동이 가능하여 효율적인 야간 관광 동선 계획 수립에 적합</a:t>
            </a:r>
          </a:p>
          <a:p>
            <a:pPr lvl="0" indent="0" marL="0">
              <a:buNone/>
            </a:pPr>
            <a:r>
              <a:rPr/>
              <a:t>[인포그래픽: 명동/종로 야경 산책 루트] [신세계 본점] -&gt; [롯데 본점] -&gt; [청계천 빛초롱] -&gt; [광화문 마켓] (미디어 파사드) (트리 장식) (빛 조형물) (산타 마을)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서울 권역별 특화 마켓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지역 기반의 개성 넘치는 축제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성수동 크리스마스 마켓은 한국맥도날드와 청년 상인 60여 팀이 협업한 지역 기반 플리마켓</a:t>
            </a:r>
          </a:p>
          <a:p>
            <a:pPr lvl="0"/>
            <a:r>
              <a:rPr/>
              <a:t>서울숲 언더스탠드에비뉴에서 업사이클링 소셜 트리 감상과 핸드메이드 소품 구매가 동시에 가능</a:t>
            </a:r>
          </a:p>
          <a:p>
            <a:pPr lvl="0"/>
            <a:r>
              <a:rPr/>
              <a:t>뚝섬 로맨틱 한강 마켓은 한강 변 자벌레 인근에서 따뜻한 전구 빛과 함께 즐기는 겨울 놀이터</a:t>
            </a:r>
          </a:p>
          <a:p>
            <a:pPr lvl="0"/>
            <a:r>
              <a:rPr/>
              <a:t>동대문 DDP의 ’서울 라이트’는 건축물 외벽 전체를 스크린으로 쓰는 대규모 미디어 파사드 공연</a:t>
            </a:r>
          </a:p>
          <a:p>
            <a:pPr lvl="0"/>
            <a:r>
              <a:rPr/>
              <a:t>하비에르 국제학교 마켓은 프랑스 전통 디저트와 캐럴 공연을 통해 이국적인 축제 분위기 전달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마켓 명칭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장소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운영 기간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성수동 마켓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언더스탠드에비뉴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청년 상인 협업 &amp; 업사이클링 트리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12.12~12.21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뚝섬 한강 마켓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뚝섬 자벌레 일원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한강 야경 &amp; 로맨틱 전구 장식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12.19~12.25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서울 라이트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동대문 DDP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대규모 미디어 파사드 공연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12.18~12.31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부산 빌라 드 아난티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영화 속 한 장면 같은 산타 빌리지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호텔 투숙객이 아니더라도 누구나 자유롭게 관람할 수 있도록 개방된 화려한 크리스마스 마을</a:t>
            </a:r>
          </a:p>
          <a:p>
            <a:pPr lvl="0"/>
            <a:r>
              <a:rPr/>
              <a:t>지스퀘어 잔디마당에 펼쳐진 트리 숲은 낮에는 평화롭고 밤에는 조명으로 인해 더욱 신비로운 분위기</a:t>
            </a:r>
          </a:p>
          <a:p>
            <a:pPr lvl="0"/>
            <a:r>
              <a:rPr/>
              <a:t>12월 평일 및 주말 정해진 시간에 인공 눈이 내리는 이벤트를 통해 화이트 크리스마스 분위기 연출</a:t>
            </a:r>
          </a:p>
          <a:p>
            <a:pPr lvl="0"/>
            <a:r>
              <a:rPr/>
              <a:t>쇼핑몰 내부 곳곳에 크리스마스 굿즈 판매처와 트리 이동 경로를 상세히 안내하여 방문객 편의 증진</a:t>
            </a:r>
          </a:p>
          <a:p>
            <a:pPr lvl="0"/>
            <a:r>
              <a:rPr/>
              <a:t>오후 5시경 방문 시 한방눈 이벤트와 함께 낮과 밤의 풍경을 모두 감상할 수 있는 최적의 시간대임</a:t>
            </a:r>
          </a:p>
          <a:p>
            <a:pPr lvl="0" indent="0" marL="0">
              <a:buNone/>
            </a:pPr>
            <a:r>
              <a:rPr/>
              <a:t>[실무 사례: 빌라 드 아난티 주차 팁] - 최초 10분 무료 이후 10분당 1,000원이며 2만 원 이상 구매 시 1시간 무료 주차 지원 - 주말 메인 트리 사진 촬영 시 약 10~20분의 대기가 발생하므로 뒷면 트리를 활용하는 센스 필요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부산 주요 크리스마스 명소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바다와 빛이 어우러진 연말 풍경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남포동 광복로 겨울빛 트리 축제는 대형 트리와 조명 터널, 주말 거리 퍼레이드로 활기 조성</a:t>
            </a:r>
          </a:p>
          <a:p>
            <a:pPr lvl="0"/>
            <a:r>
              <a:rPr/>
              <a:t>광안리 해변의 상설 드론 라이트 쇼는 700대에서 최대 2,000대의 드론으로 밤하늘에 성탄 테마 구현</a:t>
            </a:r>
          </a:p>
          <a:p>
            <a:pPr lvl="0"/>
            <a:r>
              <a:rPr/>
              <a:t>영화의전당 ’크리스마스 빌리지’는 1만 평 규모의 초대형 산타 마을로 실내외 복합 구조가 특징</a:t>
            </a:r>
          </a:p>
          <a:p>
            <a:pPr lvl="0"/>
            <a:r>
              <a:rPr/>
              <a:t>밀락더마켓은 포장마차 감성을 살린 복합문화공간으로 DJ 공연과 크리스마스 굿즈 쇼핑 가능</a:t>
            </a:r>
          </a:p>
          <a:p>
            <a:pPr lvl="0"/>
            <a:r>
              <a:rPr/>
              <a:t>부평 깡통시장 야시장은 남포동 축제장과 인접하여 저렴하고 푸짐한 먹거리로 투어 마무리 적합</a:t>
            </a:r>
          </a:p>
          <a:p>
            <a:pPr lvl="0" indent="0" marL="0">
              <a:buNone/>
            </a:pPr>
            <a:r>
              <a:rPr/>
              <a:t>[인포그래픽: 부산 크리스마스 당일치기 코스] [영화의전당] -&gt; [밀락더마켓] -&gt; [광안리 드론쇼] -&gt; [남포동 트리축제] (대규모 빌리지) (굿즈 &amp; 미식) (야간 라이트쇼) (퍼레이드 &amp; 야시장)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경기도 테마파크 축제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완성형 크리스마스의 정석 에버랜드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에버랜드 ’블링블링 X-Mas 퍼레이드’는 산타와 루돌프 캐릭터가 참여하는 화려한 야간 공연</a:t>
            </a:r>
          </a:p>
          <a:p>
            <a:pPr lvl="0"/>
            <a:r>
              <a:rPr/>
              <a:t>포시즌스가든 일대를 가득 메운 대형 트리와 선물 박스 조형물이 따뜻한 노랑빛 야경 선사</a:t>
            </a:r>
          </a:p>
          <a:p>
            <a:pPr lvl="0"/>
            <a:r>
              <a:rPr/>
              <a:t>과천 서울랜드의 ’메리 매일 크리스마스’는 8m 산타 벌룬과 불꽃 레이저 쇼를 핵심 콘텐츠로 운영</a:t>
            </a:r>
          </a:p>
          <a:p>
            <a:pPr lvl="0"/>
            <a:r>
              <a:rPr/>
              <a:t>서울랜드 내 크리스마스 마켓에서 가래떡과 치즈 등 먹거리를 즐기며 불멍존 체험 가능</a:t>
            </a:r>
          </a:p>
          <a:p>
            <a:pPr lvl="0"/>
            <a:r>
              <a:rPr/>
              <a:t>테마파크 특유의 대중교통 연계성과 풍부한 부대시설로 가족 단위 방문객에게 최고의 편의성 제공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테마파크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핵심 볼거리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체험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에버랜드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문라이트 퍼레이드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스노우 버스터(눈썰매)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용인 위치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서울랜드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불꽃 판타지 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불멍존 &amp; 가래떡 구이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과천 위치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안성팜랜드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트리 빛 윈터빌리지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빙어 체험 &amp; 목장 체험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안성 위치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경기도 이색 콘셉트 명소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전통과 현대가 만나는 조선 산타왕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용인 한국민속촌의 ’킹받는 크리스마스’는 전통 한옥과 서양 축제 이미지를 결합한 이색 축제</a:t>
            </a:r>
          </a:p>
          <a:p>
            <a:pPr lvl="0"/>
            <a:r>
              <a:rPr/>
              <a:t>‘조선의 산타왕’ 설정을 활용한 10여 종의 체험 프로그램과 MZ세대를 겨냥한 SNS 포토존 배치</a:t>
            </a:r>
          </a:p>
          <a:p>
            <a:pPr lvl="0"/>
            <a:r>
              <a:rPr/>
              <a:t>이천 시몬스 테라스는 8m 메인 트리와 UFO 조형물을 설치하여 세련된 복합문화공간 분위기 연출</a:t>
            </a:r>
          </a:p>
          <a:p>
            <a:pPr lvl="0"/>
            <a:r>
              <a:rPr/>
              <a:t>포천 허브 아일랜드는 지중해풍 경관과 실내 온실을 갖추어 추위를 피하며 야간 산책 가능</a:t>
            </a:r>
          </a:p>
          <a:p>
            <a:pPr lvl="0"/>
            <a:r>
              <a:rPr/>
              <a:t>파주 퍼스트가든은 정원 전역을 활용한 빛 축제와 레스토랑을 결합해 식사와 산책 동시 해결</a:t>
            </a:r>
          </a:p>
          <a:p>
            <a:pPr lvl="0" indent="0" marL="0">
              <a:buNone/>
            </a:pPr>
            <a:r>
              <a:rPr/>
              <a:t>[실무 사례: 한국민속촌 참여형 프로그램] - 전통 의상에 산타 모자를 더한 이색 체험으로 방문객의 직접적인 참여 유도 - 전하가 직접 답장을 하사하는 크리스마스 편지 쓰기를 통해 스토리텔링 강화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전국 빛 축제 가이드 1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어둠을 밝히는 도심과 자연의 조화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태안 빛 축제는 365일 상설 운영되는 라이트 가든으로 해 질 무렵 방문 시 가장 선명한 빛 감상</a:t>
            </a:r>
          </a:p>
          <a:p>
            <a:pPr lvl="0"/>
            <a:r>
              <a:rPr/>
              <a:t>창원국가산단 미디어 아트는 산업단지 거점 공간을 무대로 미디어 파사드와 아나모픽 영상 구현</a:t>
            </a:r>
          </a:p>
          <a:p>
            <a:pPr lvl="0"/>
            <a:r>
              <a:rPr/>
              <a:t>구리 빛 축제는 장자호수공원의 네온 숲길과 대형 마스코트 조형물을 무료로 관람하는 힐링 코스</a:t>
            </a:r>
          </a:p>
          <a:p>
            <a:pPr lvl="0"/>
            <a:r>
              <a:rPr/>
              <a:t>인천 남동 빛의 거리는 도심 산책과 거리 공연이 결합되어 친구와 연인이 부담 없이 즐기는 명소</a:t>
            </a:r>
          </a:p>
          <a:p>
            <a:pPr lvl="0"/>
            <a:r>
              <a:rPr/>
              <a:t>각 축제는 지역의 지리적 특성에 맞춰 바다, 숲, 산업시설 등 다양한 배경을 활용함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축제명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장소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운영 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비고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태안 빛축제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충남 네이처월드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365일 상설 운영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상설형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창원 미디어아트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경남 창원국가산단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기술과 예술의 결합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이색적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구리 빛축제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경기 장자호수공원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네온 숲길 &amp; 무료 관람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산책형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전국 빛 축제 가이드 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동심과 낭만이 가득한 지역 명소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청도 산타마을 빛 축제는 대형 트리와 포토존은 물론 양궁 체험 등 참여형 콘텐츠가 풍부함</a:t>
            </a:r>
          </a:p>
          <a:p>
            <a:pPr lvl="0"/>
            <a:r>
              <a:rPr/>
              <a:t>전남 함평 겨울빛 축제는 엑스포공원 일대를 대형 조형물로 꾸며 가족 단위 여유로운 관람 지원</a:t>
            </a:r>
          </a:p>
          <a:p>
            <a:pPr lvl="0"/>
            <a:r>
              <a:rPr/>
              <a:t>여수 라테라스 윈터 빌리지는 유럽 감성 조명과 오르골, 캔들 소품으로 로맨틱한 분위기 조성</a:t>
            </a:r>
          </a:p>
          <a:p>
            <a:pPr lvl="0"/>
            <a:r>
              <a:rPr/>
              <a:t>울산 크리스마스 마켓은 울산대공원 일대에서 푸드트럭과 소품 판매 부스가 조화롭게 운영됨</a:t>
            </a:r>
          </a:p>
          <a:p>
            <a:pPr lvl="0"/>
            <a:r>
              <a:rPr/>
              <a:t>충청 지역 세종 이응다리는 주말 저녁 디제잉 파티와 버스킹 공연을 더해 축제 흥취 고조</a:t>
            </a:r>
          </a:p>
          <a:p>
            <a:pPr lvl="0" indent="0" marL="0">
              <a:buNone/>
            </a:pPr>
            <a:r>
              <a:rPr/>
              <a:t>[인포그래픽: 전국 주요 빛축제 분포도] - 수도권: 서울 빛초롱, 구리 빛축제 - 충청/전라: 태안 빛축제, 함평 겨울빛축제, 여수 라테라스 - 경상: 해운대 빛축제, 청도 산타마을, 창원 미디어아트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이색 산타 마을 여행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기차역과 테마파크의 특별한 변신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경북 봉화 분천역 산타마을은 실제 기차역을 산타 테마로 꾸며 알파카 먹이 주기 등 체험 제공</a:t>
            </a:r>
          </a:p>
          <a:p>
            <a:pPr lvl="0"/>
            <a:r>
              <a:rPr/>
              <a:t>전북 임실 치즈테마파크는 치즈 만들기 체험과 산타 축제 퍼레이드 및 썰매장 운영</a:t>
            </a:r>
          </a:p>
          <a:p>
            <a:pPr lvl="0"/>
            <a:r>
              <a:rPr/>
              <a:t>경북 청도 프로방스는 365일 크리스마스 테마를 유지하며 겨울철 야간 빛 축제가 절정을 이룸</a:t>
            </a:r>
          </a:p>
          <a:p>
            <a:pPr lvl="0"/>
            <a:r>
              <a:rPr/>
              <a:t>오산 ’오! 해피 산타 마켓’은 산타 동화 마을 컨셉의 포토존과 지역 작가 플리마켓으로 구성</a:t>
            </a:r>
          </a:p>
          <a:p>
            <a:pPr lvl="0"/>
            <a:r>
              <a:rPr/>
              <a:t>여주 루덴시아는 테마파크 곳곳에 오너먼트 체험 부스를 마련하여 가족 단위 방문객 유인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명소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핵심 키워드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추천 대상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경북 봉화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분천역 산타마을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기차 여행 &amp; 알파카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아이 동반 가족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전북 임실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치즈테마파크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치즈 체험 &amp; 썰매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활동적인 가족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경기 여주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루덴시아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오너먼트 &amp; 포토존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커플 및 가족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제주 및 섬 지역 축제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바다 건너 즐기는 크리스마스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제주 바이나흐튼 박물관 마켓은 50여 개 부스에서 다양한 수공예 제품을 판매하는 대표 명소</a:t>
            </a:r>
          </a:p>
          <a:p>
            <a:pPr lvl="0"/>
            <a:r>
              <a:rPr/>
              <a:t>제주국제컨벤션센터의 ’산타왔수다’는 소상공인과 작가들이 참여하는 소품 중심의 단기 마켓</a:t>
            </a:r>
          </a:p>
          <a:p>
            <a:pPr lvl="0"/>
            <a:r>
              <a:rPr/>
              <a:t>제주 지역 마켓은 실내외를 넘나드는 공간 구성으로 날씨 변화에 유연하게 대응함</a:t>
            </a:r>
          </a:p>
          <a:p>
            <a:pPr lvl="0"/>
            <a:r>
              <a:rPr/>
              <a:t>여수 라테라스는 유럽풍 조명 장식과 캔들, 랜턴 등 정교한 소품들로 로맨틱한 감성 극대화</a:t>
            </a:r>
          </a:p>
          <a:p>
            <a:pPr lvl="0"/>
            <a:r>
              <a:rPr/>
              <a:t>섬 지역 특유의 여유로운 분위기와 크리스마스 테마가 결합되어 휴양형 연말 여행지 형성</a:t>
            </a:r>
          </a:p>
          <a:p>
            <a:pPr lvl="0" indent="0" marL="0">
              <a:buNone/>
            </a:pPr>
            <a:r>
              <a:rPr/>
              <a:t>[실무 사례: 제주 ‘산타왔수다’ 방문 전략] - 단 3일간만 집중적으로 운영되므로 여행 계획 시 마켓 일정 확인이 최우선임 - 지역 작가들의 독특한 핸드메이드 소품을 구매하여 희소성 있는 선물 준비 가능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솔로 크리스마스 가이드 1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나를 위한 특별한 영화관 나들이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CGV MYBOX나 WIDE BOX 같은 칸막이 및 전용 팔걸이 좌석을 통해 혼자서도 몰입 관람</a:t>
            </a:r>
          </a:p>
          <a:p>
            <a:pPr lvl="0"/>
            <a:r>
              <a:rPr/>
              <a:t>연말 개봉작인 ‘무파사’, ‘슈퍼소닉 3’ 등 취향에 맞는 애니메이션과 뮤지컬 영화 선택</a:t>
            </a:r>
          </a:p>
          <a:p>
            <a:pPr lvl="0"/>
            <a:r>
              <a:rPr/>
              <a:t>크리스마스 한정판 팝콘 통이나 텀블러 같은 시즌 굿즈를 구매하여 나만의 연말 기분 전환</a:t>
            </a:r>
          </a:p>
          <a:p>
            <a:pPr lvl="0"/>
            <a:r>
              <a:rPr/>
              <a:t>유독과 같은 구독 플랫폼의 할인권을 활용하여 경제적으로 최신 영화를 감상하는 지혜</a:t>
            </a:r>
          </a:p>
          <a:p>
            <a:pPr lvl="0"/>
            <a:r>
              <a:rPr/>
              <a:t>타인의 시선을 의식하지 않고 오직 영화의 감동에만 집중할 수 있는 독립적 시간 확보</a:t>
            </a:r>
          </a:p>
          <a:p>
            <a:pPr lvl="0" indent="0" marL="0">
              <a:buNone/>
            </a:pPr>
            <a:r>
              <a:rPr/>
              <a:t>[인포그래픽: 혼영족을 위한 상영관 좌석 구조] [좌측 칸막이] — [내 좌석(WIDE)] — [우측 칸막이] | (폭 +16cm) | | [전용 팔걸이 &amp; 음료] |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솔로 크리스마스 가이드 2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집에서 즐기는 정주행과 홈파티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넷플릭스, 티빙 등 OTT 플랫폼의 화제작인 ’흑백요리사’나 클래식 로맨틱 코미디 정주행</a:t>
            </a:r>
          </a:p>
          <a:p>
            <a:pPr lvl="0"/>
            <a:r>
              <a:rPr/>
              <a:t>클래스101 온라인 강좌를 통해 칵테일 만들기나 스웨터 뜨기 등 새로운 취미 활동 시작</a:t>
            </a:r>
          </a:p>
          <a:p>
            <a:pPr lvl="0"/>
            <a:r>
              <a:rPr/>
              <a:t>CJ더마켓이나 마켓컬리의 밀키트를 활용하여 나만을 위한 근사한 홈파티 음식 준비</a:t>
            </a:r>
          </a:p>
          <a:p>
            <a:pPr lvl="0"/>
            <a:r>
              <a:rPr/>
              <a:t>스팀의 ‘윈터 세일’ 기간을 이용해 평소 원하던 게임을 저렴하게 구매하여 시간 순삭 경험</a:t>
            </a:r>
          </a:p>
          <a:p>
            <a:pPr lvl="0"/>
            <a:r>
              <a:rPr/>
              <a:t>고사양 게임이 필요한 경우 지포스 나우 서비스를 통해 하드웨어 제약 없이 플레이 가능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활동 영역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추천 플랫폼/수단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기대 효과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영상 시청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넷플릭스, 티빙, 디즈니+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몰입형 휴식 및 힐링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자기 계발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클래스101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성취감 및 새해 목표 수립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게임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스팀, 에픽게임즈, 지포스나우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스트레스 해소 및 몰입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성공적인 방문 전략 팁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대기 시간을 줄이는 예약과 타이밍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방문하려는 명소의 인스타그램과 카카오톡 채널을 팔로우하여 예약 오픈 알림 설정 필수</a:t>
            </a:r>
          </a:p>
          <a:p>
            <a:pPr lvl="0"/>
            <a:r>
              <a:rPr/>
              <a:t>평일 오후 3~4시경 방문하여 낮 풍경을 보고 5시 30분 점등 순간을 포착한 뒤 조기 퇴장</a:t>
            </a:r>
          </a:p>
          <a:p>
            <a:pPr lvl="0"/>
            <a:r>
              <a:rPr/>
              <a:t>현장 웨이팅을 고려하여 오픈 시간인 오전 10시 30분경 도착해 QR 등록을 미리 완료</a:t>
            </a:r>
          </a:p>
          <a:p>
            <a:pPr lvl="0"/>
            <a:r>
              <a:rPr/>
              <a:t>인기 식당은 캐치테이블이나 네이버 예약의 ‘빈자리 알림’ 기능을 활용하여 예약 선점</a:t>
            </a:r>
          </a:p>
          <a:p>
            <a:pPr lvl="0"/>
            <a:r>
              <a:rPr/>
              <a:t>폐점 직전 시간대를 노리면 낮 시간보다 비교적 한산하게 사진 촬영과 관람이 가능함</a:t>
            </a:r>
          </a:p>
          <a:p>
            <a:pPr lvl="0" indent="0" marL="0">
              <a:buNone/>
            </a:pPr>
            <a:r>
              <a:rPr/>
              <a:t>[인포그래픽: 크리스마스 마켓 방문 골든타임] [오전 10:30] -&gt; [오후 15:30] -&gt; [오후 17:30] -&gt; [오후 19:30] (현장대기등록) (낮 풍경 관람) (점등쇼 포착) (식당으로 이동)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겨울 야외활동 필수 준비물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추위로부터 나를 지키는 방한 대책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야외 마켓은 체감 온도가 매우 낮으므로 얇은 옷을 여러 벌 겹쳐 입어 온도를 유지함</a:t>
            </a:r>
          </a:p>
          <a:p>
            <a:pPr lvl="0"/>
            <a:r>
              <a:rPr/>
              <a:t>등과 배에 붙이는 핫팩은 장시간 야외 대기 시 체온을 보존해 주는 핵심 아이템임</a:t>
            </a:r>
          </a:p>
          <a:p>
            <a:pPr lvl="0"/>
            <a:r>
              <a:rPr/>
              <a:t>사진 촬영을 위해 스마트폰 터치가 가능한 장갑과 목도리를 착용하여 노출 부위 최소화</a:t>
            </a:r>
          </a:p>
          <a:p>
            <a:pPr lvl="0"/>
            <a:r>
              <a:rPr/>
              <a:t>추운 날씨에는 배터리 소모가 빠르므로 사진 및 영상 촬영을 위한 보조배터리 지참 필수</a:t>
            </a:r>
          </a:p>
          <a:p>
            <a:pPr lvl="0"/>
            <a:r>
              <a:rPr/>
              <a:t>긴 웨이팅을 대비하여 따뜻한 물을 담은 텀블러와 가벼운 간식을 준비해 에너지를 보충함</a:t>
            </a:r>
          </a:p>
          <a:p>
            <a:pPr lvl="0" indent="0" marL="0">
              <a:buNone/>
            </a:pPr>
            <a:r>
              <a:rPr/>
              <a:t>[인포그래픽: 겨울 나들이 5대 필수템] 1. 핫팩(붙이는 형) ♨️ 2. 스마트폰용 장갑 🧤 3. 보조배터리 🔋 4. 보온 텀블러 ☕ 5. 얇은 옷 레이어드 👕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축제 가이드 마무리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2025년 크리스마스 핵심 요약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100년 만에 돌아온 ‘25’ 반복의 특별한 날을 맞아 전국 각지에 역대급 규모의 축제 마련</a:t>
            </a:r>
          </a:p>
          <a:p>
            <a:pPr lvl="0"/>
            <a:r>
              <a:rPr/>
              <a:t>예약 전쟁이 벌어지는 서울 백화점부터 지방의 이색 산타 마을까지 풍성한 선택지 존재</a:t>
            </a:r>
          </a:p>
          <a:p>
            <a:pPr lvl="0"/>
            <a:r>
              <a:rPr/>
              <a:t>화려한 미디어 파사드와 조명 쇼를 통해 시각적 만족과 인생샷을 동시에 얻는 경험 제공</a:t>
            </a:r>
          </a:p>
          <a:p>
            <a:pPr lvl="0"/>
            <a:r>
              <a:rPr/>
              <a:t>솔로와 가족, 연인 등 방문 주체에 따른 맞춤형 콘텐츠로 모두가 즐거운 연말 분위기</a:t>
            </a:r>
          </a:p>
          <a:p>
            <a:pPr lvl="0"/>
            <a:r>
              <a:rPr/>
              <a:t>방문 전 일정 확인과 예약, 방한 준비를 철저히 하여 안전하고 행복한 추억 만들기 권장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지역별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대표 명소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핵심 테마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서울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광화문, 더현대, 잠실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화려한 마켓 &amp; 미디어 파사드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부산/경상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아난티, 해운대, 봉화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바다 야경 &amp; 이색 산타 마을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기타 지방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여수, 제주, 임실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유럽 감성 &amp; 체험형 축제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2025-12-24T06:34:37Z</dcterms:created>
  <dcterms:modified xsi:type="dcterms:W3CDTF">2025-12-24T06:34:37Z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